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72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D1E3"/>
    <a:srgbClr val="B1DFEB"/>
    <a:srgbClr val="8AA7DA"/>
    <a:srgbClr val="B3D4E9"/>
    <a:srgbClr val="9DCB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3A21A-80B7-3CF4-BA07-86FA49564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CAB5BD-0210-6CCA-AA9A-637C8CF54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615965-CA30-6920-4B91-F1332D5B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EB9980-0710-BF1E-12AA-687D15FA6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B9CEF2-0A89-CB76-7F49-E41F14E9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203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E24B2-0B2F-0437-F0B5-B381366DE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23CA55-F6BE-3882-25F0-B80179DFE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B73CE-E6CD-1AD5-4EBC-A2B250A87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88E524-7E30-A006-ED7A-D473AFA48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11577A-1E36-068D-0E13-01579ABE8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90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EB1F8-78CD-D1AC-9215-5087C83D3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C9458A-71D7-DCD8-B40D-054751EAE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0CC8B1-CB2F-7ADE-924F-6C99F580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9FFBB-31D8-86EC-FACB-BE6B0D583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7F936F-763C-7D72-F5A8-4311D231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6981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FF6E0-E69B-8B4C-9CA3-F8ABB10D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14D99D-C9ED-000E-C314-054AB581BD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608C3CB-BE30-6D0C-40FE-2595BB6EB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7C76C9-A99D-086B-7C6F-4B593902B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D5C67F-73E0-ECCD-E955-5A7B728BF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952641-3DA9-52BD-411F-1117ACCB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53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1B98E-7E4A-EB27-71FC-E5A3F1529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1200346-72F8-9FF3-93BD-3C53CB3E4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C9DAAC-DF21-17AA-9647-7DC8083AE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45455D5-49BB-C5F5-2EF6-00B24ABCD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52BE4A-7971-50B7-23DE-64AC5ECC7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FF80094-38C1-761F-2C4F-479A48A11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73BDCFE-8ABA-7451-5B06-3AAF574C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4F2E88-9B86-DD22-54A2-7D4829885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0940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527EA-43F9-5940-9D52-8CB6562A2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3DCD9A3-2F5A-1323-14F9-E5247EB99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0A07C7-E7ED-1B09-3DA2-5F228768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802CEDD-C8CD-B79C-4B2C-D9F6BEDA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67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D980B4D-A9A4-3C70-0986-02D6DFE57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F1E592B-0192-70E7-A90C-5E46D60D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038E8D-8E2A-EC03-DABB-C14EB36F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688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726C8-093E-194B-7F89-4F1EC9861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41914C-9EF6-A68A-413A-10F4725A9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CE2047-B185-2601-2B1C-47ECFC7EE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691C27-743C-3E78-6CD9-E1D830B2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23028B-C3C7-0DAD-6D9F-E85EFAA46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1F3B26-766F-1E8F-60CF-A3DA320BC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5648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7137A-C6B2-D239-7B2C-5F51ED727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30A9071-2E85-1838-D2B4-147424D9D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C26DCE-CB01-654A-493E-95371567D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5B46BD-A108-C76A-AC32-E424161E7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ADEC92-898C-C867-8C51-CE16D88B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E248CF-7887-21B2-8BBB-6C064038A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388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04344-05FA-57F6-4556-A619BD370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274B83-3F39-3F5A-EA77-E3FB8C47A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830749-5D03-4993-5511-29489DB30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591724-A776-7FDD-CD52-6C654F98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720BD6-CEAA-C756-B9C7-1D4B95F7C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1865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51EFF2-8A64-926C-5286-832712C75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05B895F-60E7-93D3-9EF4-0C738D001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B9640F-C033-10EE-31B3-B2E348AA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96242-6DD3-4D54-A525-423EBBB8B2C3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B23D51-4DE9-25DF-DCC3-FCFF03F1C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EF539A-EF57-E8C8-84AD-4C337525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872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91D1E3"/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F83B414-AD60-2DEF-AC60-237D6C482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C25738-CB9E-3D71-D49E-26B14B547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838FFA-D4E9-4FC7-D4CE-1CDBFCF7A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96242-6DD3-4D54-A525-423EBBB8B2C3}" type="datetimeFigureOut">
              <a:rPr lang="pt-BR" smtClean="0"/>
              <a:t>01/12/2025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465E27-97E9-FE4F-52E2-A3F7741FA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C60D7E-05AF-B963-B2F7-3C6EA41315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7228C-FA41-40F0-90B3-1F4643753A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6086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F779834-E8C1-B890-ECA2-C587281B1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738B535D-6525-46C2-BFD7-736AC4254BB7}"/>
              </a:ext>
            </a:extLst>
          </p:cNvPr>
          <p:cNvSpPr/>
          <p:nvPr/>
        </p:nvSpPr>
        <p:spPr>
          <a:xfrm>
            <a:off x="-172720" y="0"/>
            <a:ext cx="12364720" cy="6858000"/>
          </a:xfrm>
          <a:prstGeom prst="rect">
            <a:avLst/>
          </a:prstGeom>
          <a:gradFill>
            <a:gsLst>
              <a:gs pos="64000">
                <a:srgbClr val="91D1E3"/>
              </a:gs>
              <a:gs pos="0">
                <a:srgbClr val="91D1E3">
                  <a:alpha val="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18C8AB-4813-F267-5C76-7A9FEAFB2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4803" y="707010"/>
            <a:ext cx="7145518" cy="995157"/>
          </a:xfrm>
        </p:spPr>
        <p:txBody>
          <a:bodyPr/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Arial" panose="020B0604020202020204" pitchFamily="34" charset="0"/>
              </a:rPr>
              <a:t>LACREI INSIGHTS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4E1643-6985-65AE-5FF5-9BBA2435E1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5815" y="2409177"/>
            <a:ext cx="4330045" cy="2796905"/>
          </a:xfrm>
        </p:spPr>
        <p:txBody>
          <a:bodyPr>
            <a:normAutofit lnSpcReduction="10000"/>
          </a:bodyPr>
          <a:lstStyle/>
          <a:p>
            <a:pPr algn="r"/>
            <a:r>
              <a:rPr lang="pt-BR" sz="3600" b="1" dirty="0">
                <a:solidFill>
                  <a:schemeClr val="accent1">
                    <a:lumMod val="50000"/>
                  </a:schemeClr>
                </a:solidFill>
              </a:rPr>
              <a:t>Equipe:</a:t>
            </a:r>
          </a:p>
          <a:p>
            <a:pPr algn="r" fontAlgn="base"/>
            <a:r>
              <a:rPr lang="pt-BR" sz="1900" b="1" dirty="0">
                <a:solidFill>
                  <a:schemeClr val="accent1">
                    <a:lumMod val="50000"/>
                  </a:schemeClr>
                </a:solidFill>
              </a:rPr>
              <a:t>João Gabriel Rosa Costa </a:t>
            </a:r>
            <a:r>
              <a:rPr lang="pt-BR" sz="1900" dirty="0">
                <a:solidFill>
                  <a:schemeClr val="accent1">
                    <a:lumMod val="50000"/>
                  </a:schemeClr>
                </a:solidFill>
              </a:rPr>
              <a:t> </a:t>
            </a:r>
          </a:p>
          <a:p>
            <a:pPr algn="r" fontAlgn="base"/>
            <a:r>
              <a:rPr lang="pt-BR" sz="1900" b="1" dirty="0">
                <a:solidFill>
                  <a:schemeClr val="accent1">
                    <a:lumMod val="50000"/>
                  </a:schemeClr>
                </a:solidFill>
              </a:rPr>
              <a:t>Lucas Warley Matos Nascimento</a:t>
            </a:r>
            <a:r>
              <a:rPr lang="pt-BR" sz="1900" dirty="0">
                <a:solidFill>
                  <a:schemeClr val="accent1">
                    <a:lumMod val="50000"/>
                  </a:schemeClr>
                </a:solidFill>
              </a:rPr>
              <a:t> </a:t>
            </a:r>
          </a:p>
          <a:p>
            <a:pPr algn="r" fontAlgn="base"/>
            <a:r>
              <a:rPr lang="pt-BR" sz="1900" b="1" dirty="0">
                <a:solidFill>
                  <a:schemeClr val="accent1">
                    <a:lumMod val="50000"/>
                  </a:schemeClr>
                </a:solidFill>
              </a:rPr>
              <a:t>Luini de Freitas Salles</a:t>
            </a:r>
            <a:r>
              <a:rPr lang="pt-BR" sz="1900" dirty="0">
                <a:solidFill>
                  <a:schemeClr val="accent1">
                    <a:lumMod val="50000"/>
                  </a:schemeClr>
                </a:solidFill>
              </a:rPr>
              <a:t> </a:t>
            </a:r>
          </a:p>
          <a:p>
            <a:pPr algn="r" fontAlgn="base"/>
            <a:r>
              <a:rPr lang="pt-BR" sz="1900" b="1" dirty="0">
                <a:solidFill>
                  <a:schemeClr val="accent1">
                    <a:lumMod val="50000"/>
                  </a:schemeClr>
                </a:solidFill>
              </a:rPr>
              <a:t>Nico Rocha da Costa</a:t>
            </a:r>
            <a:r>
              <a:rPr lang="pt-BR" sz="1900" dirty="0">
                <a:solidFill>
                  <a:schemeClr val="accent1">
                    <a:lumMod val="50000"/>
                  </a:schemeClr>
                </a:solidFill>
              </a:rPr>
              <a:t> </a:t>
            </a:r>
          </a:p>
          <a:p>
            <a:pPr algn="r" fontAlgn="base"/>
            <a:r>
              <a:rPr lang="pt-BR" sz="1900" b="1" dirty="0">
                <a:solidFill>
                  <a:schemeClr val="accent1">
                    <a:lumMod val="50000"/>
                  </a:schemeClr>
                </a:solidFill>
              </a:rPr>
              <a:t>Ryann Victor de Almeida Parreira</a:t>
            </a:r>
            <a:r>
              <a:rPr lang="pt-BR" sz="1900" dirty="0">
                <a:solidFill>
                  <a:schemeClr val="accent1">
                    <a:lumMod val="50000"/>
                  </a:schemeClr>
                </a:solidFill>
              </a:rPr>
              <a:t> </a:t>
            </a:r>
          </a:p>
          <a:p>
            <a:pPr algn="r" fontAlgn="base"/>
            <a:r>
              <a:rPr lang="pt-BR" sz="1900" b="1" dirty="0">
                <a:solidFill>
                  <a:schemeClr val="accent1">
                    <a:lumMod val="50000"/>
                  </a:schemeClr>
                </a:solidFill>
              </a:rPr>
              <a:t>Sarah Cesar Martins dos Santos</a:t>
            </a:r>
            <a:r>
              <a:rPr lang="pt-BR" sz="1900" dirty="0">
                <a:solidFill>
                  <a:schemeClr val="accent1">
                    <a:lumMod val="50000"/>
                  </a:schemeClr>
                </a:solidFill>
              </a:rPr>
              <a:t> 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10B7178-D1AA-E01F-10B4-E1D834BF2D1A}"/>
              </a:ext>
            </a:extLst>
          </p:cNvPr>
          <p:cNvSpPr txBox="1"/>
          <p:nvPr/>
        </p:nvSpPr>
        <p:spPr>
          <a:xfrm>
            <a:off x="2523241" y="5885297"/>
            <a:ext cx="71455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accent1">
                    <a:lumMod val="50000"/>
                  </a:schemeClr>
                </a:solidFill>
              </a:rPr>
              <a:t>Orientadora:</a:t>
            </a:r>
          </a:p>
          <a:p>
            <a:pPr algn="ctr"/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Maria Inês Lage de Paula</a:t>
            </a:r>
          </a:p>
          <a:p>
            <a:pPr algn="r"/>
            <a:endParaRPr lang="pt-BR" sz="32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73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53B73-7FD7-8F48-3154-EA1DE878F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/>
          <a:lstStyle/>
          <a:p>
            <a:r>
              <a:rPr lang="pt-BR" b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Introdução:</a:t>
            </a:r>
            <a:endParaRPr lang="pt-BR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577EB2-2186-2E40-2453-0CB275896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40000"/>
            </a:schemeClr>
          </a:solidFill>
          <a:effectLst>
            <a:softEdge rad="0"/>
          </a:effectLst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A comunidade LGBTQIAPN+ ainda enfrenta muitos casos de preconceito e tratamento inadequado nos serviços de saúde. Um estudo mostrou que mais de 70% das pessoas trans já sofreram algum tipo de violência ou mau atendimento nesses espaços. Isso mostra como ainda falta preparo e sensibilidade por parte de muitos profissionais da área.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A Lacrei Saúde surgiu justamente para enfrentar essa realidade. É uma organização que conecta pessoas LGBTQIAPN+ a profissionais de saúde que oferecem atendimento respeitoso e acolhedor. Hoje, ela atua apenas no estado de São Paulo e depende muito do trabalho voluntário e de parceiros para continuar funcionando.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Diante desse cenário, o projeto de extensão tem como objetivo ajudar a Lacrei Saúde a entender melhor o público que atende e melhorar sua gestão. Para isso, será criada uma solução que organize e apresente de forma clara informações importantes sobre os usuários, seus atendimentos e avaliações. Assim, a instituição poderá tomar decisões mais eficientes, ampliar seu impacto e fortalecer o cuidado oferecido à comunidade.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88685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D8B82-6822-6251-3055-B93AC05C2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7CD3F3-9647-62C2-2203-BE4E877D0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40000"/>
            </a:schemeClr>
          </a:solidFill>
          <a:effectLst>
            <a:softEdge rad="0"/>
          </a:effectLst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Nosso parceiro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Lacrei Saúde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é uma organização criada para garantir que pessoas LGBTQIAPN+ tenham acesso a um atendimento de saúde seguro, acolhedor e livre de discriminação. Atuando no estado de São Paulo e em todo o Brasil, a plataforma conecta usuários a profissionais capacitados e comprometidos com práticas inclusivas.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Desde sua criação, a Lacrei Saúde cresce graças ao trabalho voluntário de profissionais de tecnologia, saúde e gestão, além de parceiros que apoiam sua infraestrutura. Seu compromisso central é reduzir barreiras no acesso à saúde, promover respeito às diversidades e fortalecer uma rede de cuidado que valorize cada indivíduo.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Com foco em inclusão, segurança e transparência, a Lacrei Saúde tornou-se referência no apoio à comunidade LGBTQIAPN+, oferecendo não apenas atendimento clínico, mas também um espaço de acolhimento e confiança.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 Convidamos vocês a conhecer melhor o trabalho da Lacrei Saúde através do site: </a:t>
            </a:r>
            <a:r>
              <a:rPr lang="pt-BR" sz="2400" b="1" u="sng" dirty="0">
                <a:solidFill>
                  <a:schemeClr val="accent1">
                    <a:lumMod val="50000"/>
                  </a:schemeClr>
                </a:solidFill>
              </a:rPr>
              <a:t>lacreisaude.com.br </a:t>
            </a:r>
          </a:p>
          <a:p>
            <a:pPr marL="0" indent="0">
              <a:buNone/>
            </a:pPr>
            <a:endParaRPr lang="pt-BR" sz="2400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91A2266-A4B7-40BB-24C8-0FB4E834E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453684"/>
            <a:ext cx="4747895" cy="6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320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4DFD9-F682-FC8A-224A-5C95630A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1C0EBC-7F2E-CF1C-49E2-EF0B07F86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/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Justificativa: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BC3BE9-D864-3134-DF5E-456E82019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37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A Lacrei Saúde realiza um trabalho importante ao conectar pessoas LGBTQIAPN+ a profissionais de saúde acolhedores. Porém, hoje a instituição não consegue acompanhar de forma clara e organizada como esses atendimentos estão acontecendo. Falta uma visão completa sobre quantidade de usuários, tempo de espera, motivos de cancelamentos, satisfação dos pacientes e outros pontos essenciais para entender se a experiência está sendo realmente boa.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Sem essas informações, a Lacrei tem dificuldade para identificar problemas, melhorar seus serviços e planejar seu crescimento. Por isso, o projeto se justifica: ele vai permitir que a organização passe a enxergar seus próprios dados de forma simples e útil, ajudando a medir resultados e melhorar continuamente o atendimento oferecido.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A solução proposta reunirá e organizará esses dados diretamente da plataforma, permitindo acompanhar tudo em tempo real. Isso dará à Lacrei Saúde as informações necessárias para tomar decisões mais seguras e eficazes.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Além disso, o projeto também tem valor acadêmico, pois coloca em prática conhecimentos aprendidos em sala de aula e mostra como a tecnologia pode apoiar iniciativas sociais e promover atendimento mais inclusivo e de qualidade.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477395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F15A5-D78D-C64C-2D6C-51FB171B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0250"/>
          </a:xfrm>
        </p:spPr>
        <p:txBody>
          <a:bodyPr/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Necessidades identificadas: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BD54ACE3-3BB1-2A41-D409-723918FC02B9}"/>
              </a:ext>
            </a:extLst>
          </p:cNvPr>
          <p:cNvGrpSpPr/>
          <p:nvPr/>
        </p:nvGrpSpPr>
        <p:grpSpPr>
          <a:xfrm>
            <a:off x="190499" y="1257300"/>
            <a:ext cx="5762625" cy="1231106"/>
            <a:chOff x="333375" y="1257300"/>
            <a:chExt cx="5600700" cy="1231106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id="{8953A822-41D4-C3E0-99F3-69B2932457C4}"/>
                </a:ext>
              </a:extLst>
            </p:cNvPr>
            <p:cNvSpPr/>
            <p:nvPr/>
          </p:nvSpPr>
          <p:spPr>
            <a:xfrm>
              <a:off x="333375" y="1257300"/>
              <a:ext cx="5600700" cy="1123950"/>
            </a:xfrm>
            <a:prstGeom prst="roundRect">
              <a:avLst/>
            </a:prstGeom>
            <a:solidFill>
              <a:schemeClr val="bg1">
                <a:lumMod val="95000"/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pt-BR" sz="1400" dirty="0"/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6187FB5C-77B3-D7BA-B54C-A8BB501A5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199" y="1462472"/>
              <a:ext cx="713605" cy="713605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C3AAEA0-80EE-75CB-F3FD-7E591580EBC2}"/>
                </a:ext>
              </a:extLst>
            </p:cNvPr>
            <p:cNvSpPr txBox="1"/>
            <p:nvPr/>
          </p:nvSpPr>
          <p:spPr>
            <a:xfrm>
              <a:off x="1242628" y="1257300"/>
              <a:ext cx="4648199" cy="12311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>
                  <a:solidFill>
                    <a:schemeClr val="accent1">
                      <a:lumMod val="50000"/>
                    </a:schemeClr>
                  </a:solidFill>
                </a:rPr>
                <a:t>Falta de organização e visibilidade dos dados da plataforma</a:t>
              </a:r>
              <a:br>
                <a:rPr lang="pt-BR" sz="1400" dirty="0">
                  <a:solidFill>
                    <a:schemeClr val="accent1">
                      <a:lumMod val="50000"/>
                    </a:schemeClr>
                  </a:solidFill>
                </a:rPr>
              </a:br>
              <a:r>
                <a:rPr lang="pt-BR" sz="1400" dirty="0">
                  <a:solidFill>
                    <a:schemeClr val="accent1">
                      <a:lumMod val="50000"/>
                    </a:schemeClr>
                  </a:solidFill>
                </a:rPr>
                <a:t>A Lacrei Saúde possui informações importantes sobre usuários, profissionais e atendimentos, mas elas não estão estruturadas de forma clara, dificultando análises e decisões.</a:t>
              </a:r>
            </a:p>
            <a:p>
              <a:endParaRPr lang="pt-BR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19D1105-21BE-9F49-483D-3D2C11C76749}"/>
              </a:ext>
            </a:extLst>
          </p:cNvPr>
          <p:cNvGrpSpPr/>
          <p:nvPr/>
        </p:nvGrpSpPr>
        <p:grpSpPr>
          <a:xfrm>
            <a:off x="6129976" y="1560524"/>
            <a:ext cx="5909625" cy="1382701"/>
            <a:chOff x="6301175" y="1560524"/>
            <a:chExt cx="5600700" cy="1169551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8618DD4A-8D1A-A177-F0F5-350F1E0D7A5D}"/>
                </a:ext>
              </a:extLst>
            </p:cNvPr>
            <p:cNvGrpSpPr/>
            <p:nvPr/>
          </p:nvGrpSpPr>
          <p:grpSpPr>
            <a:xfrm>
              <a:off x="6301175" y="1560524"/>
              <a:ext cx="5600700" cy="1169551"/>
              <a:chOff x="333375" y="1257300"/>
              <a:chExt cx="5600700" cy="1169551"/>
            </a:xfrm>
          </p:grpSpPr>
          <p:sp>
            <p:nvSpPr>
              <p:cNvPr id="10" name="Retângulo: Cantos Arredondados 9">
                <a:extLst>
                  <a:ext uri="{FF2B5EF4-FFF2-40B4-BE49-F238E27FC236}">
                    <a16:creationId xmlns:a16="http://schemas.microsoft.com/office/drawing/2014/main" id="{52C503DB-455D-3010-814B-DF345D5BB507}"/>
                  </a:ext>
                </a:extLst>
              </p:cNvPr>
              <p:cNvSpPr/>
              <p:nvPr/>
            </p:nvSpPr>
            <p:spPr>
              <a:xfrm>
                <a:off x="333375" y="1257300"/>
                <a:ext cx="5600700" cy="1041326"/>
              </a:xfrm>
              <a:prstGeom prst="roundRect">
                <a:avLst/>
              </a:prstGeom>
              <a:solidFill>
                <a:schemeClr val="bg1">
                  <a:lumMod val="95000"/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400" dirty="0"/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173E31D-2C54-4B4E-6B77-745624009D1A}"/>
                  </a:ext>
                </a:extLst>
              </p:cNvPr>
              <p:cNvSpPr txBox="1"/>
              <p:nvPr/>
            </p:nvSpPr>
            <p:spPr>
              <a:xfrm>
                <a:off x="1242628" y="1257300"/>
                <a:ext cx="4648199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Ausência de um sistema centralizado para reunir e atualizar os dados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Sem um ambiente único para concentrar as informações, a instituição enfrenta dificuldade em acompanhar o desempenho da plataforma ao longo do tempo.</a:t>
                </a:r>
                <a:endParaRPr lang="pt-BR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371D39F2-9689-F51A-DE78-A3695D264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6581" y="1739000"/>
              <a:ext cx="766998" cy="709091"/>
            </a:xfrm>
            <a:prstGeom prst="rect">
              <a:avLst/>
            </a:prstGeom>
          </p:spPr>
        </p:pic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8DFF0E7C-D5A6-67E6-07BB-61DA1D0F38E8}"/>
              </a:ext>
            </a:extLst>
          </p:cNvPr>
          <p:cNvGrpSpPr/>
          <p:nvPr/>
        </p:nvGrpSpPr>
        <p:grpSpPr>
          <a:xfrm>
            <a:off x="190500" y="2695575"/>
            <a:ext cx="5762624" cy="1231106"/>
            <a:chOff x="190500" y="2543175"/>
            <a:chExt cx="5762624" cy="1231106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D8A608D4-AE85-CA57-2969-D03B729CAEEF}"/>
                </a:ext>
              </a:extLst>
            </p:cNvPr>
            <p:cNvGrpSpPr/>
            <p:nvPr/>
          </p:nvGrpSpPr>
          <p:grpSpPr>
            <a:xfrm>
              <a:off x="190500" y="2543175"/>
              <a:ext cx="5762624" cy="1231106"/>
              <a:chOff x="333375" y="1257300"/>
              <a:chExt cx="5600700" cy="1169551"/>
            </a:xfrm>
          </p:grpSpPr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id="{F24CA3E9-6019-FD8A-B6EA-57A082E7EE30}"/>
                  </a:ext>
                </a:extLst>
              </p:cNvPr>
              <p:cNvSpPr/>
              <p:nvPr/>
            </p:nvSpPr>
            <p:spPr>
              <a:xfrm>
                <a:off x="333375" y="1257300"/>
                <a:ext cx="5600700" cy="1123950"/>
              </a:xfrm>
              <a:prstGeom prst="roundRect">
                <a:avLst/>
              </a:prstGeom>
              <a:solidFill>
                <a:schemeClr val="bg1">
                  <a:lumMod val="95000"/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400" dirty="0"/>
              </a:p>
            </p:txBody>
          </p:sp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70D73923-8BC4-2F2E-289E-D1051A0AAFB8}"/>
                  </a:ext>
                </a:extLst>
              </p:cNvPr>
              <p:cNvSpPr txBox="1"/>
              <p:nvPr/>
            </p:nvSpPr>
            <p:spPr>
              <a:xfrm>
                <a:off x="1242628" y="1257300"/>
                <a:ext cx="4648199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Inexistência de indicadores padronizados para medir resultados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Atualmente não há métricas definidas que permitam avaliar o impacto dos atendimentos, o comportamento dos usuários ou a eficiência dos profissionais.</a:t>
                </a:r>
                <a:endParaRPr lang="pt-BR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pic>
          <p:nvPicPr>
            <p:cNvPr id="21" name="Imagem 20">
              <a:extLst>
                <a:ext uri="{FF2B5EF4-FFF2-40B4-BE49-F238E27FC236}">
                  <a16:creationId xmlns:a16="http://schemas.microsoft.com/office/drawing/2014/main" id="{1AFB0F00-481C-90DE-C8E5-30D859415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670" y="2773791"/>
              <a:ext cx="674259" cy="674259"/>
            </a:xfrm>
            <a:prstGeom prst="rect">
              <a:avLst/>
            </a:prstGeom>
          </p:spPr>
        </p:pic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566403F9-2937-EAB0-F196-9431D2D88077}"/>
              </a:ext>
            </a:extLst>
          </p:cNvPr>
          <p:cNvGrpSpPr/>
          <p:nvPr/>
        </p:nvGrpSpPr>
        <p:grpSpPr>
          <a:xfrm>
            <a:off x="6129976" y="3105150"/>
            <a:ext cx="5762624" cy="1895475"/>
            <a:chOff x="6129976" y="2943225"/>
            <a:chExt cx="5762624" cy="1895475"/>
          </a:xfrm>
        </p:grpSpPr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FF91C86C-C9BD-5583-F2A0-3A303A9B045D}"/>
                </a:ext>
              </a:extLst>
            </p:cNvPr>
            <p:cNvGrpSpPr/>
            <p:nvPr/>
          </p:nvGrpSpPr>
          <p:grpSpPr>
            <a:xfrm>
              <a:off x="6129976" y="2943225"/>
              <a:ext cx="5762624" cy="1895475"/>
              <a:chOff x="333375" y="1257300"/>
              <a:chExt cx="5600700" cy="1800701"/>
            </a:xfrm>
          </p:grpSpPr>
          <p:sp>
            <p:nvSpPr>
              <p:cNvPr id="29" name="Retângulo: Cantos Arredondados 28">
                <a:extLst>
                  <a:ext uri="{FF2B5EF4-FFF2-40B4-BE49-F238E27FC236}">
                    <a16:creationId xmlns:a16="http://schemas.microsoft.com/office/drawing/2014/main" id="{1450F1CA-2E86-7194-5F3F-0BE46992AB7D}"/>
                  </a:ext>
                </a:extLst>
              </p:cNvPr>
              <p:cNvSpPr/>
              <p:nvPr/>
            </p:nvSpPr>
            <p:spPr>
              <a:xfrm>
                <a:off x="333375" y="1257300"/>
                <a:ext cx="5600700" cy="1800701"/>
              </a:xfrm>
              <a:prstGeom prst="roundRect">
                <a:avLst/>
              </a:prstGeom>
              <a:solidFill>
                <a:schemeClr val="bg1">
                  <a:lumMod val="95000"/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400" dirty="0"/>
              </a:p>
            </p:txBody>
          </p:sp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DF4D5360-D75B-E794-D9F9-9EDFFB94354A}"/>
                  </a:ext>
                </a:extLst>
              </p:cNvPr>
              <p:cNvSpPr txBox="1"/>
              <p:nvPr/>
            </p:nvSpPr>
            <p:spPr>
              <a:xfrm>
                <a:off x="1242628" y="1257300"/>
                <a:ext cx="4648199" cy="1725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Dificuldade em analisar o funcionamento da plataforma (quem usa, quanto usa, como usa)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A instituição não consegue responder facilmente a perguntas como: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– Quem são os usuários?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– Quais especialidades são mais buscadas?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– Quantos atendimentos são realizados?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– Onde estão as falhas e os pontos fortes?</a:t>
                </a:r>
                <a:endParaRPr lang="pt-BR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pic>
          <p:nvPicPr>
            <p:cNvPr id="32" name="Imagem 31">
              <a:extLst>
                <a:ext uri="{FF2B5EF4-FFF2-40B4-BE49-F238E27FC236}">
                  <a16:creationId xmlns:a16="http://schemas.microsoft.com/office/drawing/2014/main" id="{E6F14C18-43E7-3843-0958-4098B4AE7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78886" y="3513448"/>
              <a:ext cx="755027" cy="755027"/>
            </a:xfrm>
            <a:prstGeom prst="rect">
              <a:avLst/>
            </a:prstGeom>
          </p:spPr>
        </p:pic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DE0B2032-A87A-C508-750B-004907320060}"/>
              </a:ext>
            </a:extLst>
          </p:cNvPr>
          <p:cNvGrpSpPr/>
          <p:nvPr/>
        </p:nvGrpSpPr>
        <p:grpSpPr>
          <a:xfrm>
            <a:off x="190500" y="4195762"/>
            <a:ext cx="5762624" cy="1183105"/>
            <a:chOff x="190500" y="3890962"/>
            <a:chExt cx="5762624" cy="1183105"/>
          </a:xfrm>
        </p:grpSpPr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6FE4847E-13D8-9585-4D2F-37A371F4A03E}"/>
                </a:ext>
              </a:extLst>
            </p:cNvPr>
            <p:cNvGrpSpPr/>
            <p:nvPr/>
          </p:nvGrpSpPr>
          <p:grpSpPr>
            <a:xfrm>
              <a:off x="190500" y="3890962"/>
              <a:ext cx="5762624" cy="1183105"/>
              <a:chOff x="333375" y="1257300"/>
              <a:chExt cx="5600700" cy="1800701"/>
            </a:xfrm>
          </p:grpSpPr>
          <p:sp>
            <p:nvSpPr>
              <p:cNvPr id="37" name="Retângulo: Cantos Arredondados 36">
                <a:extLst>
                  <a:ext uri="{FF2B5EF4-FFF2-40B4-BE49-F238E27FC236}">
                    <a16:creationId xmlns:a16="http://schemas.microsoft.com/office/drawing/2014/main" id="{0E74ED89-2A55-79EC-3134-DA06A354F2E0}"/>
                  </a:ext>
                </a:extLst>
              </p:cNvPr>
              <p:cNvSpPr/>
              <p:nvPr/>
            </p:nvSpPr>
            <p:spPr>
              <a:xfrm>
                <a:off x="333375" y="1257300"/>
                <a:ext cx="5600700" cy="1800701"/>
              </a:xfrm>
              <a:prstGeom prst="roundRect">
                <a:avLst/>
              </a:prstGeom>
              <a:solidFill>
                <a:schemeClr val="bg1">
                  <a:lumMod val="95000"/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400" dirty="0"/>
              </a:p>
            </p:txBody>
          </p:sp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63377292-D0BA-5236-13D9-9BA9992244BC}"/>
                  </a:ext>
                </a:extLst>
              </p:cNvPr>
              <p:cNvSpPr txBox="1"/>
              <p:nvPr/>
            </p:nvSpPr>
            <p:spPr>
              <a:xfrm>
                <a:off x="1242628" y="1257300"/>
                <a:ext cx="4648199" cy="1780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Falta de ferramentas visuais que permitam acompanhar desempenho e experiência dos usuários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A Lacrei não possui painéis claros que mostrem, de forma acessível, dados sobre cadastros, atendimentos, cancelamentos, notas de satisfação ou perfil do público.</a:t>
                </a:r>
                <a:endParaRPr lang="pt-BR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pic>
          <p:nvPicPr>
            <p:cNvPr id="40" name="Imagem 39">
              <a:extLst>
                <a:ext uri="{FF2B5EF4-FFF2-40B4-BE49-F238E27FC236}">
                  <a16:creationId xmlns:a16="http://schemas.microsoft.com/office/drawing/2014/main" id="{28AA2F08-A5BE-B1E2-8E1B-AE74703FF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302" y="4113616"/>
              <a:ext cx="724241" cy="724241"/>
            </a:xfrm>
            <a:prstGeom prst="rect">
              <a:avLst/>
            </a:prstGeom>
          </p:spPr>
        </p:pic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0D1F07DC-E7EA-EAA5-4747-5A14A53FACF6}"/>
              </a:ext>
            </a:extLst>
          </p:cNvPr>
          <p:cNvGrpSpPr/>
          <p:nvPr/>
        </p:nvGrpSpPr>
        <p:grpSpPr>
          <a:xfrm>
            <a:off x="6129976" y="5285569"/>
            <a:ext cx="5762624" cy="1183105"/>
            <a:chOff x="6129976" y="4990294"/>
            <a:chExt cx="5762624" cy="1183105"/>
          </a:xfrm>
        </p:grpSpPr>
        <p:grpSp>
          <p:nvGrpSpPr>
            <p:cNvPr id="43" name="Agrupar 42">
              <a:extLst>
                <a:ext uri="{FF2B5EF4-FFF2-40B4-BE49-F238E27FC236}">
                  <a16:creationId xmlns:a16="http://schemas.microsoft.com/office/drawing/2014/main" id="{A87CC85E-5A03-AFD7-4921-5130ED501CE8}"/>
                </a:ext>
              </a:extLst>
            </p:cNvPr>
            <p:cNvGrpSpPr/>
            <p:nvPr/>
          </p:nvGrpSpPr>
          <p:grpSpPr>
            <a:xfrm>
              <a:off x="6129976" y="4990294"/>
              <a:ext cx="5762624" cy="1183105"/>
              <a:chOff x="333375" y="1257300"/>
              <a:chExt cx="5600700" cy="1800701"/>
            </a:xfrm>
          </p:grpSpPr>
          <p:sp>
            <p:nvSpPr>
              <p:cNvPr id="45" name="Retângulo: Cantos Arredondados 44">
                <a:extLst>
                  <a:ext uri="{FF2B5EF4-FFF2-40B4-BE49-F238E27FC236}">
                    <a16:creationId xmlns:a16="http://schemas.microsoft.com/office/drawing/2014/main" id="{A6E8CE39-1969-773D-EAF0-F40ED9B5550E}"/>
                  </a:ext>
                </a:extLst>
              </p:cNvPr>
              <p:cNvSpPr/>
              <p:nvPr/>
            </p:nvSpPr>
            <p:spPr>
              <a:xfrm>
                <a:off x="333375" y="1257300"/>
                <a:ext cx="5600700" cy="1800701"/>
              </a:xfrm>
              <a:prstGeom prst="roundRect">
                <a:avLst/>
              </a:prstGeom>
              <a:solidFill>
                <a:schemeClr val="bg1">
                  <a:lumMod val="95000"/>
                  <a:alpha val="5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400" dirty="0"/>
              </a:p>
            </p:txBody>
          </p:sp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550752F5-D9CD-6126-CA44-F1A463ABB716}"/>
                  </a:ext>
                </a:extLst>
              </p:cNvPr>
              <p:cNvSpPr txBox="1"/>
              <p:nvPr/>
            </p:nvSpPr>
            <p:spPr>
              <a:xfrm>
                <a:off x="1242628" y="1257300"/>
                <a:ext cx="4648199" cy="1780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400" b="1" dirty="0">
                    <a:solidFill>
                      <a:schemeClr val="accent1">
                        <a:lumMod val="50000"/>
                      </a:schemeClr>
                    </a:solidFill>
                  </a:rPr>
                  <a:t>Carência de informações estratégicas para melhorar processos e tomar decisões baseadas em evidências</a:t>
                </a:r>
                <a:b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pt-BR" sz="1400" dirty="0">
                    <a:solidFill>
                      <a:schemeClr val="accent1">
                        <a:lumMod val="50000"/>
                      </a:schemeClr>
                    </a:solidFill>
                  </a:rPr>
                  <a:t>A ausência de relatórios confiáveis prejudica a capacidade de planejar melhorias, avaliar resultados e fortalecer o impacto social da plataforma.</a:t>
                </a:r>
                <a:endParaRPr lang="pt-BR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p:grpSp>
        <p:pic>
          <p:nvPicPr>
            <p:cNvPr id="48" name="Imagem 47">
              <a:extLst>
                <a:ext uri="{FF2B5EF4-FFF2-40B4-BE49-F238E27FC236}">
                  <a16:creationId xmlns:a16="http://schemas.microsoft.com/office/drawing/2014/main" id="{8BB1ABC9-E807-61FA-FF51-7CB289D19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1118" y="5236895"/>
              <a:ext cx="689901" cy="6899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8895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50516-D2EA-5A93-E826-393B3569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ADA5A-E0BF-E481-059D-14206234C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/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Objetivo Geral: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3F1E94-0B02-581A-412B-C87651CF1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37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O objetivo principal do projeto é reunir, organizar e integrar todas as informações da plataforma da Lacrei Saúde em um sistema único e confiável. Para isso, será criada uma estrutura que permita armazenar e cruzar dados de usuários e atendimentos, além de um painel visual que facilite o acompanhamento dessas informações.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Com essa organização, a Lacrei Saúde poderá entender melhor como seus serviços estão funcionando, identificar problemas, melhorar seus processos e tomar decisões baseadas em dados reais. O projeto também busca tornar essas informações mais acessíveis e fáceis de interpretar para a equipe, contribuindo para um atendimento mais eficiente, acolhedor e alinhado às necessidades da comunidade LGBTQIAPN+.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Em resumo, o projeto transforma dados dispersos em conhecimento útil, fortalecendo a gestão da Lacrei Saúde e ampliando a qualidade dos serviços oferecidos aos pacientes e profissionais.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76244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C259-8851-BE2A-E589-D8D5BB7B1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0F15D-914D-C5DC-A5D8-EF96BAE6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/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Objetivos Específicos: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0DF3E9-D89E-0DDB-F5F0-37F8F08AC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37000"/>
            </a:schemeClr>
          </a:solidFill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Mapear e organizar todas as informações da plataforma, incluindo dados de usuários, profissionais e atendimentos.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   Reunir esses dados em um ambiente unificado e seguro, permitindo atualização contínua.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   Definir e padronizar indicadores que ajudem a medir o desempenho e o impacto da plataforma.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   Estruturar um sistema de dados preparado para análises mais profundas e confiáveis.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   Criar dashboards e relatórios visuais, organizados em páginas temáticas (Profissionais e Pacientes), facilitando a consulta das informações pela equipe da Lacrei Saúde.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70104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D2745-EB1A-E462-742A-0AF0CB57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6E5A54-493B-D21E-F371-A681EC205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Relação com os Objetivos de Desenvolvimento Sustentável: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569E5B-0F87-8F15-254F-FF6602DBD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37000"/>
            </a:schemeClr>
          </a:solidFill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O projeto contribui para vários Objetivos de Desenvolvimento Sustentável da ONU ao fortalecer o acesso à saúde e a inclusão social da comunidade LGBTQIAPN+. Em relação ao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ODS 3 (Saúde e Bem-Estar)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a iniciativa ajuda a garantir um atendimento mais seguro e acolhedor, melhorando a qualidade dos serviços oferecidos pela Lacrei Saúde.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Ele também apoia 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ODS 5 (Igualdade de Gênero)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ao promover um atendimento médico que respeita todas as identidades de gênero, reduzindo práticas discriminatórias. No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ODS 10 (Redução das Desigualdades)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o projeto atua diminuindo barreiras de acesso à saúde e dando visibilidade às necessidades de um grupo socialmente vulnerável.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ODS 16 (Paz, Justiça e Instituições Eficazes)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é atendido ao incentivar transparência, ética e responsabilidade na gestão dos dados da plataforma. Por fim, 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ODS 17 (Parcerias e Meios de Implementação)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se manifesta na colaboração entre universidade e organização social, criando oportunidades para novas ações conjuntas no futuro.</a:t>
            </a:r>
          </a:p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Assim, o projeto reforça a inclusão, a equidade e o fortalecimento institucional em várias frentes.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18290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1A287-B91A-E990-4A7B-378F53409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2A90C-AFBB-3A1A-2911-9C98A50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Metodologia: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470162-CC3D-FF7C-E64F-E4F9D646A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37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O projeto foi desenvolvido utilizando a metodologia SCRUM, escolhida por oferecer organização, clareza de objetivos, divisão de responsabilidades e trabalho colaborativo. A equipe está distribuída entre Scrum Master,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</a:rPr>
              <a:t>Product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</a:rPr>
              <a:t>Owner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e membros de desenvolvimento, garantindo que cada etapa seja acompanhada e ajustada de forma contínua.</a:t>
            </a:r>
          </a:p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Para apoiar o trabalho, serão utilizadas ferramentas específicas:</a:t>
            </a:r>
          </a:p>
          <a:p>
            <a:r>
              <a:rPr lang="pt-BR" sz="2400" b="1" dirty="0" err="1">
                <a:solidFill>
                  <a:schemeClr val="accent1">
                    <a:lumMod val="50000"/>
                  </a:schemeClr>
                </a:solidFill>
              </a:rPr>
              <a:t>Metabase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para criação dos dashboards e análises;</a:t>
            </a:r>
          </a:p>
          <a:p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Microsoft Teams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para comunicação e reuniões com o parceiro;</a:t>
            </a:r>
          </a:p>
          <a:p>
            <a:r>
              <a:rPr lang="pt-BR" sz="2400" b="1" dirty="0" err="1">
                <a:solidFill>
                  <a:schemeClr val="accent1">
                    <a:lumMod val="50000"/>
                  </a:schemeClr>
                </a:solidFill>
              </a:rPr>
              <a:t>DBDiagram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 e Draw.io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para modelagem e organização do modelo de dados.</a:t>
            </a:r>
          </a:p>
          <a:p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Esses recursos permitirão que o grupo trabalhe de forma estruturada, realizando alinhamentos frequentes, modelando os dados corretamente e entregando uma solução de BI completa e funcional para a Lacrei Saúde.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051567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CD8A3-4AF4-E727-65E6-5E17D0763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9B7262-DCC2-D63E-B87B-3E145C3E2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Arquitetura: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CE6461-8CC4-2E05-1DE8-C8C9221AB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37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A Lacrei Saúde utiliza uma infraestrutura moderna composta por PostgreSQL no banco de dados, backend em Python/Django, frontend em Next.js com TypeScript, integrações via APIs REST, pipelines no GitHub Actions e hospedagem em AWS. Também adota práticas de segurança como LGPD, autenticação JWT e testes automatizados.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Para o projeto de BI, foi criada uma arquitetura própria que organiza o fluxo de dados em três etapas: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Extração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do banco de dados original;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Transformação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onde os dados são tratados e preparados para análise;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Carga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no Data Warehouse, que armazena as informações finais usadas pelos dashboards.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Esse processo é realizado por uma API desenvolvida em Python e alimenta diretamente as visualizações analíticas.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    O ambiente está disponível em um servidor público, com login. Após acessar a plataforma, o usuário pode: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Atualizar dados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acionando todo o processo de ETL;</a:t>
            </a:r>
          </a:p>
          <a:p>
            <a:pPr>
              <a:lnSpc>
                <a:spcPct val="120000"/>
              </a:lnSpc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Visualizar gráficos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, acessando os dashboards construídos a partir dos Data </a:t>
            </a:r>
            <a:r>
              <a:rPr lang="pt-BR" sz="2400" dirty="0" err="1">
                <a:solidFill>
                  <a:schemeClr val="accent1">
                    <a:lumMod val="50000"/>
                  </a:schemeClr>
                </a:solidFill>
              </a:rPr>
              <a:t>Marts</a:t>
            </a: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pt-BR" sz="2400" dirty="0">
                <a:solidFill>
                  <a:schemeClr val="accent1">
                    <a:lumMod val="50000"/>
                  </a:schemeClr>
                </a:solidFill>
              </a:rPr>
              <a:t>Essa arquitetura garante organização, segurança e atualização contínua das informações analisadas.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849686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5E6B-1B1E-B701-1D2F-EA172A2A8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8E425-1FB3-9EC0-F7A7-45CC579A6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Modelagem: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62792ED-4E07-7446-339B-324819CB8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28" y="1207038"/>
            <a:ext cx="9797143" cy="528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20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2D6AC-35FA-4765-A93A-A7C48D360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DA8B3-1C0A-6E95-EEA3-913200E06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Arquitetura: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6431598-7331-773E-1094-9F9223874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1699180"/>
            <a:ext cx="11505780" cy="460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691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FEACE-AA83-3BB4-BC3A-E76F4C49E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4BF6D-AB60-B68B-4D7D-7E5D8AB07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chemeClr val="accent1">
                    <a:lumMod val="50000"/>
                  </a:schemeClr>
                </a:solidFill>
                <a:latin typeface="+mn-lt"/>
              </a:rPr>
              <a:t>Acesso e Layout:</a:t>
            </a:r>
            <a:endParaRPr lang="pt-BR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991C3F-64FD-7CEC-8B8F-740619A74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206" y="1229737"/>
            <a:ext cx="10103710" cy="506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095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618EB-C58E-2B59-DE99-1567558DF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D5B28-311E-6F0D-C496-9D84EB8B4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Acesso e Layout: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BCDA288-7C3C-7F02-B6C2-FB8B3DEBB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14" y="1229856"/>
            <a:ext cx="10630371" cy="526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29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51E5A-2168-860A-5C75-343BBF00C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7EA9F7-D866-1A52-8113-85C10FAA0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>
                <a:solidFill>
                  <a:schemeClr val="accent1">
                    <a:lumMod val="50000"/>
                  </a:schemeClr>
                </a:solidFill>
                <a:latin typeface="+mn-lt"/>
              </a:rPr>
              <a:t>Acesso e Layout:</a:t>
            </a:r>
            <a:endParaRPr lang="pt-BR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6" name="Imagem 5" descr="Interface gráfica do usuário, Gráfico&#10;&#10;O conteúdo gerado por IA pode estar incorreto.">
            <a:extLst>
              <a:ext uri="{FF2B5EF4-FFF2-40B4-BE49-F238E27FC236}">
                <a16:creationId xmlns:a16="http://schemas.microsoft.com/office/drawing/2014/main" id="{D5239656-6A2E-56DA-EC2C-6574AAEDF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23"/>
          <a:stretch>
            <a:fillRect/>
          </a:stretch>
        </p:blipFill>
        <p:spPr>
          <a:xfrm>
            <a:off x="1328057" y="1279237"/>
            <a:ext cx="9535886" cy="503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66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B1CBF-7FD5-E5E7-C4E1-A92005951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7D81F-96FC-38E0-7F6A-4D2C7D9F9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8957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Considerações Finais: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9B546B-CAF4-E9A3-D8FD-D1EFC4BD2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  <a:solidFill>
            <a:schemeClr val="bg1">
              <a:lumMod val="95000"/>
              <a:alpha val="37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sz="2100" dirty="0">
                <a:solidFill>
                  <a:schemeClr val="accent1">
                    <a:lumMod val="50000"/>
                  </a:schemeClr>
                </a:solidFill>
              </a:rPr>
              <a:t>    O desenvolvimento deste projeto representou uma oportunidade de unir tecnologia, impacto social e compromisso com a inclusão. A criação de uma estrutura completa de Business </a:t>
            </a:r>
            <a:r>
              <a:rPr lang="pt-BR" sz="2100" dirty="0" err="1">
                <a:solidFill>
                  <a:schemeClr val="accent1">
                    <a:lumMod val="50000"/>
                  </a:schemeClr>
                </a:solidFill>
              </a:rPr>
              <a:t>Intelligence</a:t>
            </a:r>
            <a:r>
              <a:rPr lang="pt-BR" sz="2100" dirty="0">
                <a:solidFill>
                  <a:schemeClr val="accent1">
                    <a:lumMod val="50000"/>
                  </a:schemeClr>
                </a:solidFill>
              </a:rPr>
              <a:t> para a Lacrei Saúde permitiu transformar dados dispersos em informações organizadas, seguras e úteis para a tomada de decisão. Com a implementação do Data Warehouse, dos processos de ETL e dos dashboards analíticos, a organização passa a contar com uma base sólida para compreender melhor seu público, avaliar seus serviços e aprimorar continuamente sua atuação.</a:t>
            </a:r>
          </a:p>
          <a:p>
            <a:pPr marL="0" indent="0">
              <a:buNone/>
            </a:pPr>
            <a:r>
              <a:rPr lang="pt-BR" sz="2100" dirty="0">
                <a:solidFill>
                  <a:schemeClr val="accent1">
                    <a:lumMod val="50000"/>
                  </a:schemeClr>
                </a:solidFill>
              </a:rPr>
              <a:t>    Mais do que uma solução tecnológica, o projeto fortalece a missão da Lacrei Saúde de oferecer um atendimento acolhedor, qualificado e inclusivo para a comunidade LGBTQIAPN+. Ao apoiar práticas baseadas em evidências, o trabalho contribui diretamente para a redução de desigualdades e para a construção de uma saúde mais humana.</a:t>
            </a:r>
          </a:p>
          <a:p>
            <a:pPr marL="0" indent="0">
              <a:buNone/>
            </a:pPr>
            <a:r>
              <a:rPr lang="pt-BR" sz="2100" dirty="0">
                <a:solidFill>
                  <a:schemeClr val="accent1">
                    <a:lumMod val="50000"/>
                  </a:schemeClr>
                </a:solidFill>
              </a:rPr>
              <a:t>    Além disso, o projeto proporcionou à equipe envolvida uma experiência prática de grande valor, integrando conhecimento acadêmico, colaboração, metodologias ágeis e responsabilidade social. Os resultados alcançados demonstram o potencial das parcerias entre instituições de ensino e organizações sociais, abrindo caminho para melhorias futuras e novas iniciativas que reforcem o compromisso com a equidade e o bem-estar de todos os usuários.</a:t>
            </a:r>
          </a:p>
          <a:p>
            <a:pPr marL="0" indent="0">
              <a:buNone/>
            </a:pPr>
            <a:r>
              <a:rPr lang="pt-BR" sz="2100" dirty="0">
                <a:solidFill>
                  <a:schemeClr val="accent1">
                    <a:lumMod val="50000"/>
                  </a:schemeClr>
                </a:solidFill>
              </a:rPr>
              <a:t>    Assim, as soluções entregues não apenas atendem às necessidades imediatas da Lacrei Saúde, como também criam uma base sustentável para seu crescimento e para o fortalecimento de uma rede de cuidado verdadeiramente inclusiva.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302421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1889</Words>
  <Application>Microsoft Office PowerPoint</Application>
  <PresentationFormat>Widescreen</PresentationFormat>
  <Paragraphs>77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do Office</vt:lpstr>
      <vt:lpstr>LACREI INSIGHTS</vt:lpstr>
      <vt:lpstr>Introdução:</vt:lpstr>
      <vt:lpstr>Apresentação do PowerPoint</vt:lpstr>
      <vt:lpstr>Justificativa:</vt:lpstr>
      <vt:lpstr>Necessidades identificadas:</vt:lpstr>
      <vt:lpstr>Objetivo Geral:</vt:lpstr>
      <vt:lpstr>Objetivos Específicos:</vt:lpstr>
      <vt:lpstr>Relação com os Objetivos de Desenvolvimento Sustentável:</vt:lpstr>
      <vt:lpstr>Metodologia:</vt:lpstr>
      <vt:lpstr>Arquitetura:</vt:lpstr>
      <vt:lpstr>Modelagem:</vt:lpstr>
      <vt:lpstr>Arquitetura:</vt:lpstr>
      <vt:lpstr>Acesso e Layout:</vt:lpstr>
      <vt:lpstr>Acesso e Layout:</vt:lpstr>
      <vt:lpstr>Acesso e Layout:</vt:lpstr>
      <vt:lpstr>Considerações Finais: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Lacrei Insight</dc:creator>
  <cp:lastModifiedBy>Nico Rocha da Costa</cp:lastModifiedBy>
  <cp:revision>2</cp:revision>
  <dcterms:created xsi:type="dcterms:W3CDTF">2025-11-29T13:54:49Z</dcterms:created>
  <dcterms:modified xsi:type="dcterms:W3CDTF">2025-12-01T20:32:48Z</dcterms:modified>
</cp:coreProperties>
</file>